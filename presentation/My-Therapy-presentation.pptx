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6"/>
            <a:ext cx="12191695" cy="685782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6"/>
            <a:ext cx="12191695" cy="685782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6"/>
            <a:ext cx="12191695" cy="685782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333333"/>
                </a:solidFill>
                <a:latin typeface="Calibri"/>
              </a:defRPr>
            </a:pPr>
            <a:r>
              <a:t>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5943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Calibri / system-sans — Title 34 / Body 18</a:t>
            </a:r>
          </a:p>
          <a:p>
            <a:pPr algn="l">
              <a:spcAft>
                <a:spcPts val="12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Primary teal, dark gray, light panels</a:t>
            </a:r>
          </a:p>
          <a:p>
            <a:pPr algn="l">
              <a:spcAft>
                <a:spcPts val="12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Rounded buttons (primary / ghost)</a:t>
            </a:r>
          </a:p>
          <a:p>
            <a:pPr algn="l">
              <a:spcAft>
                <a:spcPts val="12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24px spacing system; responsive grid</a:t>
            </a:r>
          </a:p>
          <a:p>
            <a:pPr algn="l">
              <a:spcAft>
                <a:spcPts val="12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Line icons + large screenshots</a:t>
            </a:r>
          </a:p>
          <a:p>
            <a:pPr algn="l">
              <a:spcAft>
                <a:spcPts val="12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WCAG contrast &amp; keyboard focus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0" y="1097280"/>
            <a:ext cx="4846320" cy="5303520"/>
          </a:xfrm>
          <a:prstGeom prst="roundRect">
            <a:avLst/>
          </a:prstGeom>
          <a:solidFill>
            <a:srgbClr val="F5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>
                <a:solidFill>
                  <a:srgbClr val="B4B4B4"/>
                </a:solidFill>
                <a:latin typeface="Calibri"/>
              </a:defRPr>
            </a:pPr>
            <a:r>
              <a:t>[Icons / Screenshots]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333333"/>
                </a:solidFill>
                <a:latin typeface="Calibri"/>
              </a:defRPr>
            </a:pPr>
            <a:r>
              <a:t>System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5943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Three-tier: Presentation → Application → Data</a:t>
            </a:r>
          </a:p>
          <a:p>
            <a:pPr algn="l">
              <a:spcAft>
                <a:spcPts val="12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Spring Boot + PostgreSQL (RDS)</a:t>
            </a:r>
          </a:p>
          <a:p>
            <a:pPr algn="l">
              <a:spcAft>
                <a:spcPts val="12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Stripe, SMTP, AWS</a:t>
            </a:r>
          </a:p>
          <a:p>
            <a:pPr algn="l">
              <a:spcAft>
                <a:spcPts val="12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Spring Security + JWT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0" y="1097280"/>
            <a:ext cx="4846320" cy="5303520"/>
          </a:xfrm>
          <a:prstGeom prst="roundRect">
            <a:avLst/>
          </a:prstGeom>
          <a:solidFill>
            <a:srgbClr val="F5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>
                <a:solidFill>
                  <a:srgbClr val="B4B4B4"/>
                </a:solidFill>
                <a:latin typeface="Calibri"/>
              </a:defRPr>
            </a:pPr>
            <a:r>
              <a:t>[Icons / Screenshots]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333333"/>
                </a:solidFill>
                <a:latin typeface="Calibri"/>
              </a:defRPr>
            </a:pPr>
            <a:r>
              <a:t>Components Used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5943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Spring Boot, Spring Data JPA, Spring Security, JUnit</a:t>
            </a:r>
          </a:p>
          <a:p>
            <a:pPr algn="l">
              <a:spcAft>
                <a:spcPts val="12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PostgreSQL, Stripe API, Spring Mail, AWS</a:t>
            </a:r>
          </a:p>
          <a:p>
            <a:pPr algn="l">
              <a:spcAft>
                <a:spcPts val="12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Packages: model/, repository/, service/, controller/, security/</a:t>
            </a:r>
          </a:p>
          <a:p>
            <a:pPr algn="l">
              <a:spcAft>
                <a:spcPts val="12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Frontend: static HTML templates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0" y="1097280"/>
            <a:ext cx="4846320" cy="5303520"/>
          </a:xfrm>
          <a:prstGeom prst="roundRect">
            <a:avLst/>
          </a:prstGeom>
          <a:solidFill>
            <a:srgbClr val="F5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>
                <a:solidFill>
                  <a:srgbClr val="B4B4B4"/>
                </a:solidFill>
                <a:latin typeface="Calibri"/>
              </a:defRPr>
            </a:pPr>
            <a:r>
              <a:t>[Icons / Screenshots]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333333"/>
                </a:solidFill>
                <a:latin typeface="Calibri"/>
              </a:defRPr>
            </a:pPr>
            <a:r>
              <a:t>Main Algorithms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5943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Slot gen: S = { [bˢ + m·d, bˢ + (m+1)·d) }</a:t>
            </a:r>
          </a:p>
          <a:p>
            <a:pPr algn="l">
              <a:spcAft>
                <a:spcPts val="12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Overlap: sᵢ &lt; eⱼ ∧ sⱼ &lt; eᵢ</a:t>
            </a:r>
          </a:p>
          <a:p>
            <a:pPr algn="l">
              <a:spcAft>
                <a:spcPts val="12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Atomic booking: tx → check overlaps → insert → commit</a:t>
            </a:r>
          </a:p>
          <a:p>
            <a:pPr algn="l">
              <a:spcAft>
                <a:spcPts val="12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Reminders: query t+24h → send emails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0" y="1097280"/>
            <a:ext cx="4846320" cy="5303520"/>
          </a:xfrm>
          <a:prstGeom prst="roundRect">
            <a:avLst/>
          </a:prstGeom>
          <a:solidFill>
            <a:srgbClr val="F5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>
                <a:solidFill>
                  <a:srgbClr val="B4B4B4"/>
                </a:solidFill>
                <a:latin typeface="Calibri"/>
              </a:defRPr>
            </a:pPr>
            <a:r>
              <a:t>[Icons / Screenshots]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333333"/>
                </a:solidFill>
                <a:latin typeface="Calibri"/>
              </a:defRPr>
            </a:pPr>
            <a:r>
              <a:t>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5943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Development → Testing → Deployment → Monitoring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0" y="1097280"/>
            <a:ext cx="4846320" cy="5303520"/>
          </a:xfrm>
          <a:prstGeom prst="roundRect">
            <a:avLst/>
          </a:prstGeom>
          <a:solidFill>
            <a:srgbClr val="F5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>
                <a:solidFill>
                  <a:srgbClr val="B4B4B4"/>
                </a:solidFill>
                <a:latin typeface="Calibri"/>
              </a:defRPr>
            </a:pPr>
            <a:r>
              <a:t>[Icons / Screenshots]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333333"/>
                </a:solidFill>
                <a:latin typeface="Calibri"/>
              </a:defRPr>
            </a:pPr>
            <a:r>
              <a:t>Next Steps /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5943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Prepare demo data</a:t>
            </a:r>
          </a:p>
          <a:p>
            <a:pPr algn="l">
              <a:spcAft>
                <a:spcPts val="12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Test Stripe sandbox</a:t>
            </a:r>
          </a:p>
          <a:p>
            <a:pPr algn="l">
              <a:spcAft>
                <a:spcPts val="12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UI polish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0" y="1097280"/>
            <a:ext cx="4846320" cy="5303520"/>
          </a:xfrm>
          <a:prstGeom prst="roundRect">
            <a:avLst/>
          </a:prstGeom>
          <a:solidFill>
            <a:srgbClr val="F5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>
                <a:solidFill>
                  <a:srgbClr val="B4B4B4"/>
                </a:solidFill>
                <a:latin typeface="Calibri"/>
              </a:defRPr>
            </a:pPr>
            <a:r>
              <a:t>[Icons / Screenshots]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