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2E74B5"/>
                </a:solidFill>
                <a:latin typeface="Calibri"/>
              </a:defRPr>
            </a:pPr>
            <a:r>
              <a:t>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4114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• MVC: Controllers → Services → Repositories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• Role-based UIs: Patient / Psychologist / Admin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• Server-side rendering + REST endpoints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• Therapeutic Resources integrated</a:t>
            </a:r>
          </a:p>
        </p:txBody>
      </p:sp>
      <p:sp>
        <p:nvSpPr>
          <p:cNvPr id="4" name="Rectangle 3"/>
          <p:cNvSpPr/>
          <p:nvPr/>
        </p:nvSpPr>
        <p:spPr>
          <a:xfrm>
            <a:off x="4846320" y="1371600"/>
            <a:ext cx="3840480" cy="4114800"/>
          </a:xfrm>
          <a:prstGeom prst="rect">
            <a:avLst/>
          </a:prstGeom>
          <a:solidFill>
            <a:srgbClr val="E8F0F8"/>
          </a:solidFill>
          <a:ln>
            <a:solidFill>
              <a:srgbClr val="C0D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>
                <a:solidFill>
                  <a:srgbClr val="888888"/>
                </a:solidFill>
                <a:latin typeface="Calibri"/>
              </a:defRPr>
            </a:pPr>
            <a:r>
              <a:t>[Icon/Screenshot Area]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2E74B5"/>
                </a:solidFill>
                <a:latin typeface="Calibri"/>
              </a:defRPr>
            </a:pPr>
            <a:r>
              <a:t>System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4114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• Three-tier: Presentation → Application → Data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• Spring Boot backend + PostgreSQL (RDS)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• External: Stripe (payments), SMTP (emails), AWS deploy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• Security: Spring Security + JWT</a:t>
            </a:r>
          </a:p>
        </p:txBody>
      </p:sp>
      <p:sp>
        <p:nvSpPr>
          <p:cNvPr id="4" name="Rectangle 3"/>
          <p:cNvSpPr/>
          <p:nvPr/>
        </p:nvSpPr>
        <p:spPr>
          <a:xfrm>
            <a:off x="4846320" y="1371600"/>
            <a:ext cx="3840480" cy="4114800"/>
          </a:xfrm>
          <a:prstGeom prst="rect">
            <a:avLst/>
          </a:prstGeom>
          <a:solidFill>
            <a:srgbClr val="E8F0F8"/>
          </a:solidFill>
          <a:ln>
            <a:solidFill>
              <a:srgbClr val="C0D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>
                <a:solidFill>
                  <a:srgbClr val="888888"/>
                </a:solidFill>
                <a:latin typeface="Calibri"/>
              </a:defRPr>
            </a:pPr>
            <a:r>
              <a:t>[Icon/Screenshot Area]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2E74B5"/>
                </a:solidFill>
                <a:latin typeface="Calibri"/>
              </a:defRPr>
            </a:pPr>
            <a:r>
              <a:t>Components Used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4114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• Spring Boot, Spring Data JPA, Spring Security, JUnit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• PostgreSQL, Stripe API, Spring Mail, AWS (EC2/RDS/CloudWatch)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• Packages: model/, repository/, service/, controller/, security/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• Frontend: static HTML templates</a:t>
            </a:r>
          </a:p>
        </p:txBody>
      </p:sp>
      <p:sp>
        <p:nvSpPr>
          <p:cNvPr id="4" name="Rectangle 3"/>
          <p:cNvSpPr/>
          <p:nvPr/>
        </p:nvSpPr>
        <p:spPr>
          <a:xfrm>
            <a:off x="4846320" y="1371600"/>
            <a:ext cx="3840480" cy="4114800"/>
          </a:xfrm>
          <a:prstGeom prst="rect">
            <a:avLst/>
          </a:prstGeom>
          <a:solidFill>
            <a:srgbClr val="E8F0F8"/>
          </a:solidFill>
          <a:ln>
            <a:solidFill>
              <a:srgbClr val="C0D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>
                <a:solidFill>
                  <a:srgbClr val="888888"/>
                </a:solidFill>
                <a:latin typeface="Calibri"/>
              </a:defRPr>
            </a:pPr>
            <a:r>
              <a:t>[Icon/Screenshot Area]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2E74B5"/>
                </a:solidFill>
                <a:latin typeface="Calibri"/>
              </a:defRPr>
            </a:pPr>
            <a:r>
              <a:t>Main Algorithms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4114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• Slot generation: S = { [b^s + m·d, b^s + (m+1)·d) }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• Overlap check: s_i &lt; e_j ∧ s_j &lt; e_i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• Atomic booking: transaction → check overlaps → insert → commit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• Reminders: query appointments at t+24h → send emails</a:t>
            </a:r>
          </a:p>
        </p:txBody>
      </p:sp>
      <p:sp>
        <p:nvSpPr>
          <p:cNvPr id="4" name="Rectangle 3"/>
          <p:cNvSpPr/>
          <p:nvPr/>
        </p:nvSpPr>
        <p:spPr>
          <a:xfrm>
            <a:off x="4846320" y="1371600"/>
            <a:ext cx="3840480" cy="4114800"/>
          </a:xfrm>
          <a:prstGeom prst="rect">
            <a:avLst/>
          </a:prstGeom>
          <a:solidFill>
            <a:srgbClr val="E8F0F8"/>
          </a:solidFill>
          <a:ln>
            <a:solidFill>
              <a:srgbClr val="C0D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>
                <a:solidFill>
                  <a:srgbClr val="888888"/>
                </a:solidFill>
                <a:latin typeface="Calibri"/>
              </a:defRPr>
            </a:pPr>
            <a:r>
              <a:t>[Icon/Screenshot Area]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2E74B5"/>
                </a:solidFill>
                <a:latin typeface="Calibri"/>
              </a:defRPr>
            </a:pPr>
            <a:r>
              <a:t>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4114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• Development → Testing → Deployment → Monitoring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4846320" y="1371600"/>
            <a:ext cx="3840480" cy="4114800"/>
          </a:xfrm>
          <a:prstGeom prst="rect">
            <a:avLst/>
          </a:prstGeom>
          <a:solidFill>
            <a:srgbClr val="E8F0F8"/>
          </a:solidFill>
          <a:ln>
            <a:solidFill>
              <a:srgbClr val="C0D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>
                <a:solidFill>
                  <a:srgbClr val="888888"/>
                </a:solidFill>
                <a:latin typeface="Calibri"/>
              </a:defRPr>
            </a:pPr>
            <a:r>
              <a:t>[Icon/Screenshot Area]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2E74B5"/>
                </a:solidFill>
                <a:latin typeface="Calibri"/>
              </a:defRPr>
            </a:pPr>
            <a:r>
              <a:t>Next Steps /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4114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• Prepare demo data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• Test Stripe in sandbox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• Finalize UI polish</a:t>
            </a:r>
          </a:p>
        </p:txBody>
      </p:sp>
      <p:sp>
        <p:nvSpPr>
          <p:cNvPr id="4" name="Rectangle 3"/>
          <p:cNvSpPr/>
          <p:nvPr/>
        </p:nvSpPr>
        <p:spPr>
          <a:xfrm>
            <a:off x="4846320" y="1371600"/>
            <a:ext cx="3840480" cy="4114800"/>
          </a:xfrm>
          <a:prstGeom prst="rect">
            <a:avLst/>
          </a:prstGeom>
          <a:solidFill>
            <a:srgbClr val="E8F0F8"/>
          </a:solidFill>
          <a:ln>
            <a:solidFill>
              <a:srgbClr val="C0D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>
                <a:solidFill>
                  <a:srgbClr val="888888"/>
                </a:solidFill>
                <a:latin typeface="Calibri"/>
              </a:defRPr>
            </a:pPr>
            <a:r>
              <a:t>[Icon/Screenshot Area]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