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08080"/>
                </a:solidFill>
                <a:latin typeface="Calibri"/>
              </a:defRPr>
            </a:pPr>
            <a:r>
              <a:t>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Calibri / system-sans — Title 34 / Body 18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Primary teal, dark gray, light panels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Rounded buttons (primary / ghost)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24px spacing system; responsive grid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Line icons + large screenshots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WCAG contrast &amp; keyboard focus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457200"/>
            <a:ext cx="5303520" cy="5943600"/>
          </a:xfrm>
          <a:prstGeom prst="round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0" y="2926080"/>
            <a:ext cx="4754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99999"/>
                </a:solidFill>
                <a:latin typeface="Calibri"/>
              </a:defRPr>
            </a:pPr>
            <a:r>
              <a:t>[Icon / Screenshot Area]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08080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Three-tier: Presentation → Application → Data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Spring Boot + PostgreSQL (RDS)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Stripe, SMTP, AWS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Spring Security + JWT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457200"/>
            <a:ext cx="5303520" cy="5943600"/>
          </a:xfrm>
          <a:prstGeom prst="round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0" y="2926080"/>
            <a:ext cx="4754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99999"/>
                </a:solidFill>
                <a:latin typeface="Calibri"/>
              </a:defRPr>
            </a:pPr>
            <a:r>
              <a:t>[Icon / Screenshot Area]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08080"/>
                </a:solidFill>
                <a:latin typeface="Calibri"/>
              </a:defRPr>
            </a:pPr>
            <a:r>
              <a:t>Components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Spring Boot, Spring Data JPA, Spring Security, JUnit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PostgreSQL, Stripe API, Spring Mail, AWS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Packages: model/, repository/, service/, controller/, security/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Frontend: static HTML templates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457200"/>
            <a:ext cx="5303520" cy="5943600"/>
          </a:xfrm>
          <a:prstGeom prst="round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0" y="2926080"/>
            <a:ext cx="4754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99999"/>
                </a:solidFill>
                <a:latin typeface="Calibri"/>
              </a:defRPr>
            </a:pPr>
            <a:r>
              <a:t>[Icon / Screenshot Area]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08080"/>
                </a:solidFill>
                <a:latin typeface="Calibri"/>
              </a:defRPr>
            </a:pPr>
            <a:r>
              <a:t>Main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Slot gen: S = { [b^s + m·d, b^s + (m+1)·d) }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Overlap: s_i &lt; e_j ∧ s_j &lt; e_i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Atomic booking: tx → check overlaps → insert → commit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Reminders: query t+24h → send emails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457200"/>
            <a:ext cx="5303520" cy="5943600"/>
          </a:xfrm>
          <a:prstGeom prst="round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0" y="2926080"/>
            <a:ext cx="4754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99999"/>
                </a:solidFill>
                <a:latin typeface="Calibri"/>
              </a:defRPr>
            </a:pPr>
            <a:r>
              <a:t>[Icon / Screenshot Area]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08080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Development → Testing → Deployment → Monitoring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457200"/>
            <a:ext cx="5303520" cy="5943600"/>
          </a:xfrm>
          <a:prstGeom prst="round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0" y="2926080"/>
            <a:ext cx="4754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99999"/>
                </a:solidFill>
                <a:latin typeface="Calibri"/>
              </a:defRPr>
            </a:pPr>
            <a:r>
              <a:t>[Icon / Screenshot Area]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08080"/>
                </a:solidFill>
                <a:latin typeface="Calibri"/>
              </a:defRPr>
            </a:pPr>
            <a:r>
              <a:t>Next Steps /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Prepare demo data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Test Stripe sandbox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UI polish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457200"/>
            <a:ext cx="5303520" cy="5943600"/>
          </a:xfrm>
          <a:prstGeom prst="round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0" y="2926080"/>
            <a:ext cx="4754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99999"/>
                </a:solidFill>
                <a:latin typeface="Calibri"/>
              </a:defRPr>
            </a:pPr>
            <a:r>
              <a:t>[Icon / Screenshot Area]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